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0F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14400" y="1280160"/>
            <a:ext cx="2926080" cy="411480"/>
          </a:xfrm>
          <a:prstGeom prst="roundRect">
            <a:avLst>
              <a:gd name="adj" fmla="val 22222"/>
            </a:avLst>
          </a:prstGeom>
          <a:solidFill>
            <a:srgbClr val="064E3B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914400" y="1280160"/>
            <a:ext cx="29260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spc="150" kern="0" dirty="0">
                <a:solidFill>
                  <a:srgbClr val="34D3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AUTOMOTIVE MARKETPLACE 2.0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914400" y="1920240"/>
            <a:ext cx="100584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TrimScout</a:t>
            </a:r>
            <a:endParaRPr lang="en-US" sz="5400" dirty="0"/>
          </a:p>
        </p:txBody>
      </p:sp>
      <p:sp>
        <p:nvSpPr>
          <p:cNvPr id="5" name="Text 3"/>
          <p:cNvSpPr/>
          <p:nvPr/>
        </p:nvSpPr>
        <p:spPr>
          <a:xfrm>
            <a:off x="914400" y="301752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34D3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Reverse-Bidding Marketplace for New &amp; In-Transit Automobiles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914400" y="3749040"/>
            <a:ext cx="8686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Eliminating dealership haggling by forcing franchise dealers to compete with sealed out-the-door price bids for verified, ready-to-buy consumers.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914400" y="4937760"/>
            <a:ext cx="10360152" cy="1005840"/>
          </a:xfrm>
          <a:prstGeom prst="roundRect">
            <a:avLst>
              <a:gd name="adj" fmla="val 9091"/>
            </a:avLst>
          </a:prstGeom>
          <a:solidFill>
            <a:srgbClr val="161F30"/>
          </a:solidFill>
          <a:ln w="12700">
            <a:solidFill>
              <a:srgbClr val="25334D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188720" y="5074920"/>
            <a:ext cx="9601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Business Case &amp; Strategic Investor Deck
</a:t>
            </a:r>
            <a:pPr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Target Market: $1.2T US Auto Market • Proprietary OTD Tax Engine • Real 3.6M+ Factory Allocations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B0F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TRIMSCOUT BUSINESS CASE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621792"/>
            <a:ext cx="10515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Broken Car Buying Experience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731520" y="1234440"/>
            <a:ext cx="10725912" cy="0"/>
          </a:xfrm>
          <a:prstGeom prst="line">
            <a:avLst/>
          </a:prstGeom>
          <a:noFill/>
          <a:ln w="12700">
            <a:solidFill>
              <a:srgbClr val="25334D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" y="640080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TrimScout Inc. • Confidential Pitch Deck • 2026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731520" y="1463040"/>
            <a:ext cx="5212080" cy="4572000"/>
          </a:xfrm>
          <a:prstGeom prst="roundRect">
            <a:avLst>
              <a:gd name="adj" fmla="val 2000"/>
            </a:avLst>
          </a:prstGeom>
          <a:solidFill>
            <a:srgbClr val="161F30"/>
          </a:solidFill>
          <a:ln w="19050">
            <a:solidFill>
              <a:srgbClr val="4C1D24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05840" y="1691640"/>
            <a:ext cx="4663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43F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🚨 The Buyer Dilemma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005840" y="2194560"/>
            <a:ext cx="46634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4.5 Hours Lost in Dealership F&amp;I Offices: Exhausting haggling and negotiation stress.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1005840" y="3063240"/>
            <a:ext cx="46634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Opaque Pricing &amp; Bait-and-Switch: Advertised prices routinely exclude $1,500–$3,500 in mandatory junk fees (paint protection, nitrogen, doc fees).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1005840" y="3931920"/>
            <a:ext cx="46634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Spam Telemarketing Nightmare: Submitting a lead on Autotrader/Cars.com unleashes 15+ daily calls and unwanted emails from aggressive BDCs.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1005840" y="4800600"/>
            <a:ext cx="46634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In-Transit Allocation Blindness: Buyers cannot easily find vehicles currently on the train or ship before they hit the dealer lot.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6217920" y="1463040"/>
            <a:ext cx="5212080" cy="4572000"/>
          </a:xfrm>
          <a:prstGeom prst="roundRect">
            <a:avLst>
              <a:gd name="adj" fmla="val 2000"/>
            </a:avLst>
          </a:prstGeom>
          <a:solidFill>
            <a:srgbClr val="161F30"/>
          </a:solidFill>
          <a:ln w="19050">
            <a:solidFill>
              <a:srgbClr val="4C1D24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492240" y="1691640"/>
            <a:ext cx="4663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43F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📉 The Dealership Dilemma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6492240" y="2194560"/>
            <a:ext cx="46634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$680+ Customer Acquisition Cost (CAC): Dealerships burn tens of thousands per month on low-quality third-party leads with &lt;3% close rates.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6492240" y="3063240"/>
            <a:ext cx="46634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Flooring Cost Hemorrhage: Vehicles sitting &gt;60 days on lot accumulate monthly bank interest penalties that eat all dealer profit margin.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6492240" y="3931920"/>
            <a:ext cx="46634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Wasted Sales Hours: BDC reps spend 80% of their workday chasing 'tire-kickers' who have no immediate financing approval or intent to buy.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6492240" y="4800600"/>
            <a:ext cx="46634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Price Race to the Bottom: Public discounts destroy brand margins; dealers need private, sealed bidding to move inventory discreetly.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B0F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TRIMSCOUT BUSINESS CASE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621792"/>
            <a:ext cx="10515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TrimScout Solution: Reverse-Bidding &amp; Buyer Shield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731520" y="1234440"/>
            <a:ext cx="10725912" cy="0"/>
          </a:xfrm>
          <a:prstGeom prst="line">
            <a:avLst/>
          </a:prstGeom>
          <a:noFill/>
          <a:ln w="12700">
            <a:solidFill>
              <a:srgbClr val="25334D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" y="640080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TrimScout Inc. • Confidential Pitch Deck • 2026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731520" y="1463040"/>
            <a:ext cx="5257800" cy="2103120"/>
          </a:xfrm>
          <a:prstGeom prst="roundRect">
            <a:avLst>
              <a:gd name="adj" fmla="val 4348"/>
            </a:avLst>
          </a:prstGeom>
          <a:solidFill>
            <a:srgbClr val="161F30"/>
          </a:solidFill>
          <a:ln w="12700">
            <a:solidFill>
              <a:srgbClr val="25334D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05840" y="1691640"/>
            <a:ext cx="4709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🛡️ 100% Anonymous Buyer Shield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005840" y="2103120"/>
            <a:ext cx="470916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Buyers are assigned encrypted aliases (e.g. Buyer #CA-4921). Dealers compete on price rather than bombarding buyers with unsolicited calls.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6172200" y="1463040"/>
            <a:ext cx="5257800" cy="2103120"/>
          </a:xfrm>
          <a:prstGeom prst="roundRect">
            <a:avLst>
              <a:gd name="adj" fmla="val 4348"/>
            </a:avLst>
          </a:prstGeom>
          <a:solidFill>
            <a:srgbClr val="161F30"/>
          </a:solidFill>
          <a:ln w="12700">
            <a:solidFill>
              <a:srgbClr val="25334D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446520" y="1691640"/>
            <a:ext cx="4709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B82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⚡ Sealed Reverse Auction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6446520" y="2103120"/>
            <a:ext cx="470916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Verified franchise dealers submit competitive binding price offers. Dealers see their rank (e.g. Rank #2) and can counter-offer to win the sale.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731520" y="3749040"/>
            <a:ext cx="5257800" cy="2103120"/>
          </a:xfrm>
          <a:prstGeom prst="roundRect">
            <a:avLst>
              <a:gd name="adj" fmla="val 4348"/>
            </a:avLst>
          </a:prstGeom>
          <a:solidFill>
            <a:srgbClr val="161F30"/>
          </a:solidFill>
          <a:ln w="12700">
            <a:solidFill>
              <a:srgbClr val="25334D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005840" y="3977640"/>
            <a:ext cx="4709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4D3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🔒 Guaranteed Out-The-Door (OTD)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1005840" y="4389120"/>
            <a:ext cx="470916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Automated calculations factoring exact local city/county tax, state DMV title fees, and zero hidden dealer markups locked into a legally backed voucher.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6172200" y="3749040"/>
            <a:ext cx="5257800" cy="2103120"/>
          </a:xfrm>
          <a:prstGeom prst="roundRect">
            <a:avLst>
              <a:gd name="adj" fmla="val 4348"/>
            </a:avLst>
          </a:prstGeom>
          <a:solidFill>
            <a:srgbClr val="161F30"/>
          </a:solidFill>
          <a:ln w="12700">
            <a:solidFill>
              <a:srgbClr val="25334D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446520" y="3977640"/>
            <a:ext cx="4709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A78B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🚢 3.6M+ Live Factory Allocations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6446520" y="4389120"/>
            <a:ext cx="470916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Direct integration across on-lot, in-transit rail, and port allocation feeds. Buyers secure exactly the trim and packages they want before arrival.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B0F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TRIMSCOUT BUSINESS CASE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621792"/>
            <a:ext cx="10515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Massive Addressable Automotive Market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731520" y="1234440"/>
            <a:ext cx="10725912" cy="0"/>
          </a:xfrm>
          <a:prstGeom prst="line">
            <a:avLst/>
          </a:prstGeom>
          <a:noFill/>
          <a:ln w="12700">
            <a:solidFill>
              <a:srgbClr val="25334D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" y="640080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TrimScout Inc. • Confidential Pitch Deck • 2026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731520" y="1463040"/>
            <a:ext cx="3429000" cy="4389120"/>
          </a:xfrm>
          <a:prstGeom prst="roundRect">
            <a:avLst>
              <a:gd name="adj" fmla="val 2667"/>
            </a:avLst>
          </a:prstGeom>
          <a:solidFill>
            <a:srgbClr val="161F30"/>
          </a:solidFill>
          <a:ln w="12700">
            <a:solidFill>
              <a:srgbClr val="25334D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60120" y="1737360"/>
            <a:ext cx="2971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TAM: Total Addressable Market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960120" y="2286000"/>
            <a:ext cx="2971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$1.2 Trillion</a:t>
            </a:r>
            <a:endParaRPr lang="en-US" sz="2800" dirty="0"/>
          </a:p>
        </p:txBody>
      </p:sp>
      <p:sp>
        <p:nvSpPr>
          <p:cNvPr id="9" name="Text 7"/>
          <p:cNvSpPr/>
          <p:nvPr/>
        </p:nvSpPr>
        <p:spPr>
          <a:xfrm>
            <a:off x="960120" y="3200400"/>
            <a:ext cx="297180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15.5M new vehicles sold annually in the United States at an average transaction price of $48,500.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4389120" y="1463040"/>
            <a:ext cx="3429000" cy="4389120"/>
          </a:xfrm>
          <a:prstGeom prst="roundRect">
            <a:avLst>
              <a:gd name="adj" fmla="val 2667"/>
            </a:avLst>
          </a:prstGeom>
          <a:solidFill>
            <a:srgbClr val="161F30"/>
          </a:solidFill>
          <a:ln w="12700">
            <a:solidFill>
              <a:srgbClr val="25334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617720" y="1737360"/>
            <a:ext cx="2971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SAM: Serviceable Addressable Market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4617720" y="2286000"/>
            <a:ext cx="2971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3B82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$240 Billion</a:t>
            </a:r>
            <a:endParaRPr lang="en-US" sz="2800" dirty="0"/>
          </a:p>
        </p:txBody>
      </p:sp>
      <p:sp>
        <p:nvSpPr>
          <p:cNvPr id="13" name="Text 11"/>
          <p:cNvSpPr/>
          <p:nvPr/>
        </p:nvSpPr>
        <p:spPr>
          <a:xfrm>
            <a:off x="4617720" y="3200400"/>
            <a:ext cx="297180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Digital-first auto shoppers (35% of total market) seeking online price discovery and transparent out-the-door guarantees.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8046720" y="1463040"/>
            <a:ext cx="3429000" cy="4389120"/>
          </a:xfrm>
          <a:prstGeom prst="roundRect">
            <a:avLst>
              <a:gd name="adj" fmla="val 2667"/>
            </a:avLst>
          </a:prstGeom>
          <a:solidFill>
            <a:srgbClr val="161F30"/>
          </a:solidFill>
          <a:ln w="12700">
            <a:solidFill>
              <a:srgbClr val="25334D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275320" y="1737360"/>
            <a:ext cx="2971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SOM: Serviceable Obtainable Market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8275320" y="2286000"/>
            <a:ext cx="2971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34D3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$2.8 Billion</a:t>
            </a:r>
            <a:endParaRPr lang="en-US" sz="2800" dirty="0"/>
          </a:p>
        </p:txBody>
      </p:sp>
      <p:sp>
        <p:nvSpPr>
          <p:cNvPr id="17" name="Text 15"/>
          <p:cNvSpPr/>
          <p:nvPr/>
        </p:nvSpPr>
        <p:spPr>
          <a:xfrm>
            <a:off x="8275320" y="3200400"/>
            <a:ext cx="297180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Capturing 2.5% of Tier-1 metropolitan allocations (CA, TX, FL, NY) via dealership transaction success fees and SaaS subscriptions.</a:t>
            </a:r>
            <a:endParaRPr lang="en-US" sz="11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B0F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TRIMSCOUT BUSINESS CASE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621792"/>
            <a:ext cx="10515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Diversified High-Margin Revenue Model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731520" y="1234440"/>
            <a:ext cx="10725912" cy="0"/>
          </a:xfrm>
          <a:prstGeom prst="line">
            <a:avLst/>
          </a:prstGeom>
          <a:noFill/>
          <a:ln w="12700">
            <a:solidFill>
              <a:srgbClr val="25334D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" y="640080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TrimScout Inc. • Confidential Pitch Deck • 2026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731520" y="1463040"/>
            <a:ext cx="5257800" cy="2103120"/>
          </a:xfrm>
          <a:prstGeom prst="roundRect">
            <a:avLst>
              <a:gd name="adj" fmla="val 4348"/>
            </a:avLst>
          </a:prstGeom>
          <a:solidFill>
            <a:srgbClr val="161F30"/>
          </a:solidFill>
          <a:ln w="12700">
            <a:solidFill>
              <a:srgbClr val="25334D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05840" y="1645920"/>
            <a:ext cx="4709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Dealer Success Fee (Per Closed Sale)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1005840" y="2011680"/>
            <a:ext cx="47091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$299 - $399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1005840" y="2514600"/>
            <a:ext cx="47091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Charged to dealership upon customer redemption of the locked OTD Deal Voucher. Highly attractive compared to legacy $680+ CAC.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6172200" y="1463040"/>
            <a:ext cx="5257800" cy="2103120"/>
          </a:xfrm>
          <a:prstGeom prst="roundRect">
            <a:avLst>
              <a:gd name="adj" fmla="val 4348"/>
            </a:avLst>
          </a:prstGeom>
          <a:solidFill>
            <a:srgbClr val="161F30"/>
          </a:solidFill>
          <a:ln w="12700">
            <a:solidFill>
              <a:srgbClr val="25334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446520" y="1645920"/>
            <a:ext cx="4709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Dealership Pro SaaS Subscription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6446520" y="2011680"/>
            <a:ext cx="47091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$599 / mo per Rooftop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6446520" y="2514600"/>
            <a:ext cx="47091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Unlocks CRM webhook auto-sync (Elead, DealerSocket), real-time SMS quick-bidding gateway, and competitor market pricing intelligence.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731520" y="3749040"/>
            <a:ext cx="5257800" cy="2103120"/>
          </a:xfrm>
          <a:prstGeom prst="roundRect">
            <a:avLst>
              <a:gd name="adj" fmla="val 4348"/>
            </a:avLst>
          </a:prstGeom>
          <a:solidFill>
            <a:srgbClr val="161F30"/>
          </a:solidFill>
          <a:ln w="12700">
            <a:solidFill>
              <a:srgbClr val="25334D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005840" y="3931920"/>
            <a:ext cx="4709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 Premium Buyer Concierge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1005840" y="4297680"/>
            <a:ext cx="47091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$99 - $149 One-Time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1005840" y="4800600"/>
            <a:ext cx="47091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Dedicated negotiation strategist, paperwork review, home driveway delivery coordination, and trade-in valuation protection.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6172200" y="3749040"/>
            <a:ext cx="5257800" cy="2103120"/>
          </a:xfrm>
          <a:prstGeom prst="roundRect">
            <a:avLst>
              <a:gd name="adj" fmla="val 4348"/>
            </a:avLst>
          </a:prstGeom>
          <a:solidFill>
            <a:srgbClr val="161F30"/>
          </a:solidFill>
          <a:ln w="12700">
            <a:solidFill>
              <a:srgbClr val="25334D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446520" y="3931920"/>
            <a:ext cx="4709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 Ancillary Fintech &amp; Trade-In Wholesale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6446520" y="4297680"/>
            <a:ext cx="47091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$150 - $250 / Transaction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6446520" y="4800600"/>
            <a:ext cx="47091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Origination referrals for captive finance/lease contracts, extended warranty marketplace, and digital trade-in wholesale auctions.</a:t>
            </a:r>
            <a:endParaRPr lang="en-US" sz="10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B0F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TRIMSCOUT BUSINESS CASE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621792"/>
            <a:ext cx="10515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Competitive Advantage &amp; Defensible Moat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731520" y="1234440"/>
            <a:ext cx="10725912" cy="0"/>
          </a:xfrm>
          <a:prstGeom prst="line">
            <a:avLst/>
          </a:prstGeom>
          <a:noFill/>
          <a:ln w="12700">
            <a:solidFill>
              <a:srgbClr val="25334D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" y="640080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TrimScout Inc. • Confidential Pitch Deck • 2026</a:t>
            </a:r>
            <a:endParaRPr lang="en-US" sz="9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31520" y="1463040"/>
          <a:ext cx="10725912" cy="4389120"/>
        </p:xfrm>
        <a:graphic>
          <a:graphicData uri="http://schemas.openxmlformats.org/drawingml/2006/table">
            <a:tbl>
              <a:tblPr/>
              <a:tblGrid>
                <a:gridCol w="2313432"/>
                <a:gridCol w="2103120"/>
                <a:gridCol w="2103120"/>
                <a:gridCol w="2103120"/>
                <a:gridCol w="2103120"/>
              </a:tblGrid>
              <a:tr h="7315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Platform Feature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2533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533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533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533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34D39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TrimScout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2533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533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533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533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4E3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94A3B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TrueCar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2533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533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533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533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94A3B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Carvana / Vroom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2533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533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533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533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94A3B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Autotrader / Cars.com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2533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533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533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533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Reverse Bidding Mechanism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2533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533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533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533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0B98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✅ Real-time Multi-Dealer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2533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533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533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533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94A3B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❌ Static MSRP Curve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2533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533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533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533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94A3B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❌ Fixed Non-negotiable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2533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533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533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533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94A3B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❌ No Bidding (Classifieds)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2533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533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533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533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100% Anonymous Buyer Shield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2533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533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533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533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0B98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✅ Zero Telemarketing Spam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2533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533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533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533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F43F5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❌ Sells Info to 3+ Dealers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2533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533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533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533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94A3B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⚠️ Account Required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2533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533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533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533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F43F5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❌ Unleashes BDC Call Spam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2533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533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533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533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In-Transit / Factory Allocations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2533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533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533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533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0B98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✅ 3.6M+ Active Pipeline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2533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533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533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533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94A3B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⚠️ Partial On-Lot Only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2533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533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533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533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F43F5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❌ Used Inventory Only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2533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533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533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533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94A3B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⚠️ Inconsistent Feeds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2533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533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533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533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Guaranteed Out-The-Door Pricing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2533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533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533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533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0B98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✅ Itemized Tax &amp; DMV Locked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2533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533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533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533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F43F5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❌ Dealer Adds Fees at Lot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2533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533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533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533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✅ Fixed Online Total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2533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533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533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533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F43F5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❌ Excludes Dealer Add-ons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2533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533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533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533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Dealer Acquisition Efficiency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2533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533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533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533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0B98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✅ $299 Success Fee Only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2533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533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533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533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94A3B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⚠️ $399 Subscription + Leads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2533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533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533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533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F43F5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❌ Expensive Retail Overhead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2533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533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533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533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F43F5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❌ $680+ Lead Waste Cost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2533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533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533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533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B0F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TRIMSCOUT BUSINESS CASE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621792"/>
            <a:ext cx="10515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Financial Forecast &amp; Unit Economics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731520" y="1234440"/>
            <a:ext cx="10725912" cy="0"/>
          </a:xfrm>
          <a:prstGeom prst="line">
            <a:avLst/>
          </a:prstGeom>
          <a:noFill/>
          <a:ln w="12700">
            <a:solidFill>
              <a:srgbClr val="25334D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" y="640080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TrimScout Inc. • Confidential Pitch Deck • 2026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731520" y="1463040"/>
            <a:ext cx="3429000" cy="4389120"/>
          </a:xfrm>
          <a:prstGeom prst="roundRect">
            <a:avLst>
              <a:gd name="adj" fmla="val 2667"/>
            </a:avLst>
          </a:prstGeom>
          <a:solidFill>
            <a:srgbClr val="161F30"/>
          </a:solidFill>
          <a:ln w="12700">
            <a:solidFill>
              <a:srgbClr val="25334D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60120" y="1737360"/>
            <a:ext cx="2971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Year 1 (Regional Focus)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960120" y="2194560"/>
            <a:ext cx="2971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$4.8M Revenue</a:t>
            </a:r>
            <a:endParaRPr lang="en-US" sz="2400" dirty="0"/>
          </a:p>
        </p:txBody>
      </p:sp>
      <p:sp>
        <p:nvSpPr>
          <p:cNvPr id="9" name="Text 7"/>
          <p:cNvSpPr/>
          <p:nvPr/>
        </p:nvSpPr>
        <p:spPr>
          <a:xfrm>
            <a:off x="960120" y="3017520"/>
            <a:ext cx="2971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Volume: 12,500 Funded Deals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960120" y="3566160"/>
            <a:ext cx="2971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Network: 180 Dealership Rooftops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960120" y="4114800"/>
            <a:ext cx="2971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Profitability: 76% Gross Margin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960120" y="4663440"/>
            <a:ext cx="2971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Unit Economics: CAC: $78 | LTV: $480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389120" y="1463040"/>
            <a:ext cx="3429000" cy="4389120"/>
          </a:xfrm>
          <a:prstGeom prst="roundRect">
            <a:avLst>
              <a:gd name="adj" fmla="val 2667"/>
            </a:avLst>
          </a:prstGeom>
          <a:solidFill>
            <a:srgbClr val="161F30"/>
          </a:solidFill>
          <a:ln w="12700">
            <a:solidFill>
              <a:srgbClr val="25334D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617720" y="1737360"/>
            <a:ext cx="2971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Year 2 (Top 15 Metro Rollout)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4617720" y="2194560"/>
            <a:ext cx="2971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$26.2M Revenue</a:t>
            </a:r>
            <a:endParaRPr lang="en-US" sz="2400" dirty="0"/>
          </a:p>
        </p:txBody>
      </p:sp>
      <p:sp>
        <p:nvSpPr>
          <p:cNvPr id="16" name="Text 14"/>
          <p:cNvSpPr/>
          <p:nvPr/>
        </p:nvSpPr>
        <p:spPr>
          <a:xfrm>
            <a:off x="4617720" y="3017520"/>
            <a:ext cx="2971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Volume: 68,000 Funded Deals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4617720" y="3566160"/>
            <a:ext cx="2971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Network: 750 Dealership Rooftops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4617720" y="4114800"/>
            <a:ext cx="2971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Profitability: 82% Gross Margin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4617720" y="4663440"/>
            <a:ext cx="2971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Unit Economics: CAC: $65 | LTV: $580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8046720" y="1463040"/>
            <a:ext cx="3429000" cy="4389120"/>
          </a:xfrm>
          <a:prstGeom prst="roundRect">
            <a:avLst>
              <a:gd name="adj" fmla="val 2667"/>
            </a:avLst>
          </a:prstGeom>
          <a:solidFill>
            <a:srgbClr val="161F30"/>
          </a:solidFill>
          <a:ln w="19050">
            <a:solidFill>
              <a:srgbClr val="10B981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8275320" y="1737360"/>
            <a:ext cx="2971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4D3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Year 3 (National Scaling)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8275320" y="2194560"/>
            <a:ext cx="2971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$94.5M Revenue</a:t>
            </a:r>
            <a:endParaRPr lang="en-US" sz="2400" dirty="0"/>
          </a:p>
        </p:txBody>
      </p:sp>
      <p:sp>
        <p:nvSpPr>
          <p:cNvPr id="23" name="Text 21"/>
          <p:cNvSpPr/>
          <p:nvPr/>
        </p:nvSpPr>
        <p:spPr>
          <a:xfrm>
            <a:off x="8275320" y="3017520"/>
            <a:ext cx="2971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Volume: 245,000 Funded Deals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8275320" y="3566160"/>
            <a:ext cx="2971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Network: 2,400 Dealership Rooftops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8275320" y="4114800"/>
            <a:ext cx="2971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Profitability: 87% Gross Margin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8275320" y="4663440"/>
            <a:ext cx="2971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Unit Economics: CAC: $52 | LTV: $670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B0F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TRIMSCOUT BUSINESS CASE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621792"/>
            <a:ext cx="10515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Seed Round &amp; Milestone Execution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731520" y="1234440"/>
            <a:ext cx="10725912" cy="0"/>
          </a:xfrm>
          <a:prstGeom prst="line">
            <a:avLst/>
          </a:prstGeom>
          <a:noFill/>
          <a:ln w="12700">
            <a:solidFill>
              <a:srgbClr val="25334D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" y="640080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TrimScout Inc. • Confidential Pitch Deck • 2026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731520" y="1463040"/>
            <a:ext cx="5212080" cy="4572000"/>
          </a:xfrm>
          <a:prstGeom prst="roundRect">
            <a:avLst>
              <a:gd name="adj" fmla="val 2000"/>
            </a:avLst>
          </a:prstGeom>
          <a:solidFill>
            <a:srgbClr val="161F30"/>
          </a:solidFill>
          <a:ln w="19050">
            <a:solidFill>
              <a:srgbClr val="10B98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05840" y="1737360"/>
            <a:ext cx="46634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34D3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💰 The Seed Ask: $2.5 Million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005840" y="2286000"/>
            <a:ext cx="4663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 of Funds Allocation: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1005840" y="2651760"/>
            <a:ext cx="46634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45% ($1.12M) - Engineering &amp; AI Autonomous Agents: Scaled dealer DMS/CRM connectors and mobile SMS bidding gateway.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1005840" y="3429000"/>
            <a:ext cx="46634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30% ($750K) - Dealer Partner B2B Sales: Onboarding regional dealer groups (Penske, Sonic, AutoNation) across top 10 metros.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1005840" y="4206240"/>
            <a:ext cx="46634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15% ($375K) - Consumer Acquisition &amp; Viral Growth: Organic content, proof-of-savings referral loops, and geo-targeted digital campaigns.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1005840" y="4983480"/>
            <a:ext cx="46634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10% ($250K) - Legal, Compliance &amp; Working Capital: Multi-state DMV licensing and automotive transaction compliance.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6217920" y="1463040"/>
            <a:ext cx="5212080" cy="4572000"/>
          </a:xfrm>
          <a:prstGeom prst="roundRect">
            <a:avLst>
              <a:gd name="adj" fmla="val 2000"/>
            </a:avLst>
          </a:prstGeom>
          <a:solidFill>
            <a:srgbClr val="161F30"/>
          </a:solidFill>
          <a:ln w="12700">
            <a:solidFill>
              <a:srgbClr val="25334D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492240" y="1737360"/>
            <a:ext cx="46634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3B82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🎯 12-Month Execution Milestones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6492240" y="2377440"/>
            <a:ext cx="46634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Q1: Launch Autonomous AI Buyer Agent &amp; Dealer SMS Bidding Gateway in California &amp; Texas.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6492240" y="3246120"/>
            <a:ext cx="46634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Q2: Onboard 250 Certified Franchise Dealership Rooftops across BMW, Toyota, Hyundai, Ford, and Honda.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6492240" y="4114800"/>
            <a:ext cx="46634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Q3: Achieve $250K Monthly Recurring Revenue (MRR) across Transaction Success Fees and Dealer Pro SaaS.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6492240" y="4983480"/>
            <a:ext cx="46634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Q4: Integrate Live Captive Lending (BMW FS, TFS) &amp; Nationwide Driveway Delivery Network.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B0F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2011680"/>
            <a:ext cx="10058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Transforming How America Buys Cars.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914400" y="2926080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34D3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Join us in building the transparent, reverse-bid future of automotive transactions.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3200400" y="3840480"/>
            <a:ext cx="5788152" cy="1645920"/>
          </a:xfrm>
          <a:prstGeom prst="roundRect">
            <a:avLst>
              <a:gd name="adj" fmla="val 5556"/>
            </a:avLst>
          </a:prstGeom>
          <a:solidFill>
            <a:srgbClr val="161F30"/>
          </a:solidFill>
          <a:ln w="19050">
            <a:solidFill>
              <a:srgbClr val="10B98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474720" y="4023360"/>
            <a:ext cx="5239512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TrimScout Executive Team
</a:t>
            </a:r>
            <a:pPr algn="ctr" indent="0" marL="0">
              <a:buNone/>
            </a:pPr>
            <a:r>
              <a:rPr lang="en-US" sz="1200" dirty="0">
                <a:solidFill>
                  <a:srgbClr val="34D3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Email: founders@trimscout.com
</a:t>
            </a:r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Web: https://temporary-spry-scarlet-edtu38n.vercel.app
</a:t>
            </a:r>
            <a:pPr algn="ctr"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GitHub: github.com/yhcnbgvtng-rgb/TrimScout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TrimScout Inc.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TrimScout Business Case &amp; Investor Pitch Deck</dc:title>
  <dc:subject>The Reverse-Bidding Marketplace for New &amp; In-Transit Automobiles</dc:subject>
  <dc:creator>TrimScout Team</dc:creator>
  <cp:lastModifiedBy>TrimScout Team</cp:lastModifiedBy>
  <cp:revision>1</cp:revision>
  <dcterms:created xsi:type="dcterms:W3CDTF">2026-08-21T02:05:38Z</dcterms:created>
  <dcterms:modified xsi:type="dcterms:W3CDTF">2026-08-21T02:05:38Z</dcterms:modified>
</cp:coreProperties>
</file>